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Quantum-Enhanced Medical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7B61FF"/>
                </a:solidFill>
                <a:latin typeface="Calibri"/>
              </a:defRPr>
            </a:pPr>
            <a:r>
              <a:t>for Cancer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Calibri"/>
              </a:defRPr>
            </a:pPr>
            <a:r>
              <a:t>Brain Tumor Classification from MRI Scans using QIEO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06240"/>
            <a:ext cx="2743200" cy="36576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Project Code: QT-2.21  |  Configuration: 6 Models  |  Dataset: 7,023 MRI Scans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Team: Loki (Data Engineering) · SK (Feature Engineering) · Monish (Quantum Optimization) · Akshya (Evaluation &amp; Explainability)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23774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1FF"/>
                </a:solidFill>
                <a:latin typeface="Calibri"/>
              </a:defRPr>
            </a:pPr>
            <a:r>
              <a:t>🧠 Clinical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• Brain tumors require fast, accurate, non-invasive diagnosis</a:t>
            </a:r>
          </a:p>
          <a:p>
            <a:pPr>
              <a:spcAft>
                <a:spcPts val="6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• Manual MRI analysis is time-consuming &amp; error-prone</a:t>
            </a:r>
          </a:p>
          <a:p>
            <a:pPr>
              <a:spcAft>
                <a:spcPts val="6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• Inter-observer variability between radiologists is high</a:t>
            </a:r>
          </a:p>
          <a:p>
            <a:pPr>
              <a:spcAft>
                <a:spcPts val="6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• Early detection directly impacts patient survival rates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23774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🎯 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① Classify MRI scans: Glioma / Meningioma / Pituitary / Healthy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② Extract features via preprocessing &amp; feature engineering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③ Optimize using Quantum-Inspired Evolutionary Algorithm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④ Maximize sensitivity for early cancer detection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⑤ Compare quantum vs. classical ML pipelines statistically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10972800" cy="228600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📊 Dataset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754880"/>
            <a:ext cx="2377440" cy="137160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3F5E"/>
                </a:solidFill>
                <a:latin typeface="Calibri"/>
              </a:defRPr>
            </a:pPr>
            <a:r>
              <a:t>Glioma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1,321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Malignant tumor of glial cells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4754880"/>
            <a:ext cx="2377440" cy="137160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Meningioma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1,339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Mostly benign, from meninges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754880"/>
            <a:ext cx="2377440" cy="137160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61FF"/>
                </a:solidFill>
                <a:latin typeface="Calibri"/>
              </a:defRPr>
            </a:pPr>
            <a:r>
              <a:t>Pituitary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1,457 images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Benign pituitary adenoma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4754880"/>
            <a:ext cx="2377440" cy="137160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No Tumor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1,595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Healthy brain tissue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173736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1. Raw MRI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Brain MRI scans</a:t>
            </a:r>
            <a:br/>
            <a:r>
              <a:t>(224×224 pixels)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645920"/>
            <a:ext cx="173736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B61FF"/>
                </a:solidFill>
                <a:latin typeface="Calibri"/>
              </a:defRPr>
            </a:pPr>
            <a:r>
              <a:t>2.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945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Skull Strip → CLAHE</a:t>
            </a:r>
            <a:br/>
            <a:r>
              <a:t>→ Denoise → 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645920"/>
            <a:ext cx="173736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3. Feature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1945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ResNet-50 (2048-D)</a:t>
            </a:r>
            <a:br/>
            <a:r>
              <a:t>+ Handcrafted (98-D)</a:t>
            </a:r>
            <a:br/>
            <a:r>
              <a:t>= 2146-D Fused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45920"/>
            <a:ext cx="173736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4.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945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QIEO Feature Selection</a:t>
            </a:r>
            <a:br/>
            <a:r>
              <a:t>+ QIEO Hyperparam</a:t>
            </a:r>
            <a:br/>
            <a:r>
              <a:t>Search (56-bit)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45920"/>
            <a:ext cx="173736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43F5E"/>
                </a:solidFill>
                <a:latin typeface="Calibri"/>
              </a:defRPr>
            </a:pPr>
            <a:r>
              <a:t>5.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945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SVM / XGBoost /</a:t>
            </a:r>
            <a:br/>
            <a:r>
              <a:t>ResNet-50 CNN</a:t>
            </a:r>
            <a:br/>
            <a:r>
              <a:t>→ 4-class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1645920"/>
            <a:ext cx="173736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6. Explainability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1945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Grad-CAM Heatmap</a:t>
            </a:r>
            <a:br/>
            <a:r>
              <a:t>+ Saliency Maps</a:t>
            </a:r>
            <a:br/>
            <a:r>
              <a:t>+ Clinical Reasoning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89120"/>
            <a:ext cx="5303520" cy="21031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61FF"/>
                </a:solidFill>
                <a:latin typeface="Calibri"/>
              </a:defRPr>
            </a:pPr>
            <a:r>
              <a:t>🔬 Preprocessing Pipeline Details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846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Skull Stripping: Otsu thresholding + contour masking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CLAHE: clip_limit=2.0, tile_grid=(8×8)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Gaussian Blur: kernel=(3×3) for noise reduction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Min-Max Normalization: scale to [0.0, 1.0]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Stratified Split: 70% train / 15% val / 15%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389120"/>
            <a:ext cx="5303520" cy="21031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🧬 Feature Engineering (2,146-D)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46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Deep CNN: ResNet-50 penultimate layer → 2,048 dims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GLCM: Contrast, Correlation, Homogeneity → 20 dims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HOG: Gradient orientation histograms → 36 dims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DWT: 4-level Haar wavelet subbands → 32 dims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Intensity: Mean, Std, Skewness, Kurtosis → 10 dims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Quantum-Inspired Evolutionary Optimization (QIEO)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Core Innovation: Q-bit Superposition + Quantum Rotation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1FF"/>
                </a:solidFill>
                <a:latin typeface="Calibri"/>
              </a:defRPr>
            </a:pPr>
            <a:r>
              <a:t>⚛️ Mathematical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Each feature/parameter is a Q-bit state vector: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 q_j = [α_j, β_j]ᵀ  where |α|² + |β|² = 1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|α_j|² = probability of collapse to 0 (unselected)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|β_j|² = probability of collapse to 1 (selected)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Quantum Rotation Gate Update: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 α_j' = α_j·cos(θ) − β_j·sin(θ)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 β_j' = α_j·sin(θ) + β_j·cos(θ)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θ is dynamically computed using a lookup table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to guide Q-bits towards globally best chromosome.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Initial state: Equal superposition (α = β = 1/√2)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🎯 QIEO Feature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Search Space: 2,146 binary Q-bits (one per feature)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Population: 10 chromosomes × 15 generations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Fitness: CV_Accuracy − 0.01 × (selected / total)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Result: Selected 1,072 optimal features (50% compression)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3-fold stratified CV on 1,000-sample subset for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303520" cy="23774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⚙️ QIEO Hyperparameter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389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7 XGBoost params × 8 bits = 56-bit chromosome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n_estimators: 50–550, max_depth: 3–15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learning_rate: 0.01–0.30, subsample: 0.5–1.0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Population: 8 individuals × 10 generations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Binary-to-float decoder maps bits → continuous space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3-fold CV on 1,500-sample stratified subset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 Model Configurations: Classical vs. Quantum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03400" cy="4572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645920"/>
            <a:ext cx="1986280" cy="4572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1986280" cy="4572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Hyperparam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645920"/>
            <a:ext cx="1986280" cy="4572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Classifier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645920"/>
            <a:ext cx="1620520" cy="4572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Training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48840"/>
            <a:ext cx="180340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402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CA3AF"/>
                </a:solidFill>
                <a:latin typeface="Calibri"/>
              </a:defRPr>
            </a:pPr>
            <a:r>
              <a:t>Baseline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2148840"/>
            <a:ext cx="198628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Mutual Info</a:t>
            </a:r>
            <a:br/>
            <a:r>
              <a:t>(Top 100)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148840"/>
            <a:ext cx="198628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GridSearchCV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148840"/>
            <a:ext cx="198628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SVM (RBF)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2148840"/>
            <a:ext cx="162052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240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~20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926080"/>
            <a:ext cx="180340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CA3AF"/>
                </a:solidFill>
                <a:latin typeface="Calibri"/>
              </a:defRPr>
            </a:pPr>
            <a:r>
              <a:t>Baseline 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2926080"/>
            <a:ext cx="198628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SelectKBest</a:t>
            </a:r>
            <a:br/>
            <a:r>
              <a:t>(Top 100)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2926080"/>
            <a:ext cx="198628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Optuna TPE</a:t>
            </a:r>
            <a:br/>
            <a:r>
              <a:t>(25 trials)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2926080"/>
            <a:ext cx="198628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2926080"/>
            <a:ext cx="162052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~30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703320"/>
            <a:ext cx="180340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794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CA3AF"/>
                </a:solidFill>
                <a:latin typeface="Calibri"/>
              </a:defRPr>
            </a:pPr>
            <a:r>
              <a:t>Baseline 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60320" y="3703320"/>
            <a:ext cx="198628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3794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End-to-end</a:t>
            </a:r>
            <a:br/>
            <a:r>
              <a:t>CNN Images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3703320"/>
            <a:ext cx="198628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3794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Transfer</a:t>
            </a:r>
            <a:br/>
            <a:r>
              <a:t>Learning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3703320"/>
            <a:ext cx="198628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3794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ResNet-50</a:t>
            </a:r>
            <a:br/>
            <a:r>
              <a:t>(5 epochs)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3703320"/>
            <a:ext cx="1620520" cy="7315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3794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~3–4 hrs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480559"/>
            <a:ext cx="180340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57199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B61FF"/>
                </a:solidFill>
                <a:latin typeface="Calibri"/>
              </a:defRPr>
            </a:pPr>
            <a:r>
              <a:t>Quantum 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60320" y="4480559"/>
            <a:ext cx="198628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1760" y="457199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QIEO Mask</a:t>
            </a:r>
            <a:br/>
            <a:r>
              <a:t>(1072 feats)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0" y="4480559"/>
            <a:ext cx="198628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457199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GridSearchCV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4480559"/>
            <a:ext cx="198628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457199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SVM (RBF)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95360" y="4480559"/>
            <a:ext cx="162052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0" y="4571999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~45 min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257800"/>
            <a:ext cx="180340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5349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B61FF"/>
                </a:solidFill>
                <a:latin typeface="Calibri"/>
              </a:defRPr>
            </a:pPr>
            <a:r>
              <a:t>Quantum 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5257800"/>
            <a:ext cx="198628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0" y="5349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QIEO Mask</a:t>
            </a:r>
            <a:br/>
            <a:r>
              <a:t>(1072 feats)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5257800"/>
            <a:ext cx="198628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63440" y="5349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QIEO 56-bit</a:t>
            </a:r>
            <a:br/>
            <a:r>
              <a:t>Binary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0" y="5257800"/>
            <a:ext cx="198628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5349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95360" y="5257800"/>
            <a:ext cx="162052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86800" y="5349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~35 min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6035040"/>
            <a:ext cx="180340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6126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B61FF"/>
                </a:solidFill>
                <a:latin typeface="Calibri"/>
              </a:defRPr>
            </a:pPr>
            <a:r>
              <a:t>Quantum C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560320" y="6035040"/>
            <a:ext cx="198628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51760" y="6126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QIEO</a:t>
            </a:r>
            <a:br/>
            <a:r>
              <a:t>Informed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0" y="6035040"/>
            <a:ext cx="198628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63440" y="6126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QIEO</a:t>
            </a:r>
            <a:br/>
            <a:r>
              <a:t>Informed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0" y="6035040"/>
            <a:ext cx="198628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6126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ResNet-50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595360" y="6035040"/>
            <a:ext cx="1620520" cy="73152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86800" y="6126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Shared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1FF"/>
                </a:solidFill>
                <a:latin typeface="Calibri"/>
              </a:defRPr>
            </a:pPr>
            <a:r>
              <a:t>⚛️ Purple rows = Quantum-optimized configurations using QIEO solver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Performance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Test Set: N = 1,054 samples across 4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620520" cy="4572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Config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645920"/>
            <a:ext cx="1346200" cy="4572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1437640" cy="4572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Sensitivity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645920"/>
            <a:ext cx="1346200" cy="4572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Specificity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1346200" cy="4572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645920"/>
            <a:ext cx="1346200" cy="4572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F1-Macro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645920"/>
            <a:ext cx="1346200" cy="4572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AUC-ROC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148840"/>
            <a:ext cx="162052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40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F4F6"/>
                </a:solidFill>
                <a:latin typeface="Calibri"/>
              </a:defRPr>
            </a:pPr>
            <a:r>
              <a:t>Baseline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214884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87.00%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2148840"/>
            <a:ext cx="143764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87.00%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214884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95.67%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14884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87.48%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214884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80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86.99%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214884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97.59%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743200"/>
            <a:ext cx="162052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F4F6"/>
                </a:solidFill>
                <a:latin typeface="Calibri"/>
              </a:defRPr>
            </a:pPr>
            <a:r>
              <a:t>Baseline 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03120" y="274320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8840" y="2834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87.00%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2743200"/>
            <a:ext cx="143764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87.00%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37760" y="274320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2834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95.67%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274320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2834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87.17%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80960" y="274320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80" y="2834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86.96%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74320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8280" y="2834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97.46%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337560"/>
            <a:ext cx="162052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F4F6"/>
                </a:solidFill>
                <a:latin typeface="Calibri"/>
              </a:defRPr>
            </a:pPr>
            <a:r>
              <a:t>Baseline 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03120" y="333756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4884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95.33%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0" y="3337560"/>
            <a:ext cx="143764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044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95.33%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37760" y="333756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8348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98.44%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333756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95.46%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80960" y="333756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2668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95.34%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52560" y="3337560"/>
            <a:ext cx="13462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9828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99.41%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3931920"/>
            <a:ext cx="162052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4023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B61FF"/>
                </a:solidFill>
                <a:latin typeface="Calibri"/>
              </a:defRPr>
            </a:pPr>
            <a:r>
              <a:t>Quantum 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103120" y="393192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48840" y="4023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89.84%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74720" y="3931920"/>
            <a:ext cx="143764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2044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89.84%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37760" y="393192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83480" y="4023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96.61%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09360" y="393192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80" y="4023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89.98%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680960" y="393192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26680" y="4023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89.83%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52560" y="393192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98280" y="4023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98.62%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4526280"/>
            <a:ext cx="162052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4617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B61FF"/>
                </a:solidFill>
                <a:latin typeface="Calibri"/>
              </a:defRPr>
            </a:pPr>
            <a:r>
              <a:t>Quantum B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103120" y="452628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48840" y="4617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89.29%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474720" y="4526280"/>
            <a:ext cx="143764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2044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89.29%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937760" y="452628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983480" y="4617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96.43%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309360" y="452628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55080" y="4617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89.50%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680960" y="452628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26680" y="4617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89.28%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052560" y="452628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98280" y="4617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F4F6"/>
                </a:solidFill>
                <a:latin typeface="Calibri"/>
              </a:defRPr>
            </a:pPr>
            <a:r>
              <a:t>97.99%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57200" y="5120640"/>
            <a:ext cx="162052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92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B61FF"/>
                </a:solidFill>
                <a:latin typeface="Calibri"/>
              </a:defRPr>
            </a:pPr>
            <a:r>
              <a:t>Quantum C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103120" y="512064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48840" y="5212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95.33%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474720" y="5120640"/>
            <a:ext cx="143764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20440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95.33%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937760" y="512064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983480" y="5212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98.44%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309360" y="512064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55080" y="5212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95.46%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680960" y="512064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26680" y="5212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95.34%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052560" y="5120640"/>
            <a:ext cx="1346200" cy="54864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098280" y="5212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99.41%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48640" y="5303520"/>
            <a:ext cx="5303520" cy="12801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22960" y="5394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📈 Quantum Improvement over Classical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2960" y="5760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• Quantum A vs Baseline A:  +3.26% Accuracy  |  +3.27% F1-Score</a:t>
            </a:r>
          </a:p>
          <a:p>
            <a:pPr>
              <a:spcAft>
                <a:spcPts val="6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• Quantum B vs Baseline B:  +2.63% Accuracy  |  +2.66% F1-Score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217920" y="5303520"/>
            <a:ext cx="5303520" cy="12801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92240" y="5394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61FF"/>
                </a:solidFill>
                <a:latin typeface="Calibri"/>
              </a:defRPr>
            </a:pPr>
            <a:r>
              <a:t>⚖️ Statistical Significance (McNemar's Test)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92240" y="5760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• Baseline A vs Quantum A:  p = 0.0037  ✅ Significant</a:t>
            </a:r>
          </a:p>
          <a:p>
            <a:pPr>
              <a:spcAft>
                <a:spcPts val="6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• Baseline B vs Quantum B:  p = 0.0110  ✅ Significant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Per-Class Sensitivity &amp; AUC-ROC (Quantum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Maximizing Sensitivity for Early Cancer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🎯 Per-Class Sensitivity (True Positive Rate)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68880" cy="16459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3F5E"/>
                </a:solidFill>
                <a:latin typeface="Calibri"/>
              </a:defRPr>
            </a:pPr>
            <a:r>
              <a:t>Glioma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82.78%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16459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Meningioma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86.81%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68880" cy="16459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B61FF"/>
                </a:solidFill>
                <a:latin typeface="Calibri"/>
              </a:defRPr>
            </a:pPr>
            <a:r>
              <a:t>Pituitary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95.24%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828800"/>
            <a:ext cx="2468880" cy="16459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No Tumor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94.51%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📊 Per-Class AUC-ROC (One-vs-Rest)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2468880" cy="16459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3F5E"/>
                </a:solidFill>
                <a:latin typeface="Calibri"/>
              </a:defRPr>
            </a:pPr>
            <a:r>
              <a:t>Glioma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97.79%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4297680"/>
            <a:ext cx="2468880" cy="16459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Meningioma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846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97.54%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80"/>
            <a:ext cx="2468880" cy="16459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B61FF"/>
                </a:solidFill>
                <a:latin typeface="Calibri"/>
              </a:defRPr>
            </a:pPr>
            <a:r>
              <a:t>Pituitary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46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99.52%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4297680"/>
            <a:ext cx="2468880" cy="16459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No Tumor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846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99.62%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Explainability &amp; Clinical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Visual + Textual Reasoning for Every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Calibri"/>
              </a:defRPr>
            </a:pPr>
            <a:r>
              <a:t>🔥 Grad-CAM Heatmap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• Computed from ResNet-50 layer4 (base.7)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• Gradient-weighted class activation mapping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• L_cam = ReLU(Σ α_k · A_k)  (weighted activations)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• Overlaid on MRI scan for spatial visualization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• Shows WHERE the CNN focused its attention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🔬 Vanilla Saliency Maps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• Absolute gradient of class score w.r.t. input pixels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• S(x) = max_c |∂S_c / ∂x|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Calibri"/>
              </a:defRPr>
            </a:pPr>
            <a:r>
              <a:t>• Highlights micro-level edges and boundaries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🩺 Clinical Reasoning Engine (NEW)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For every prediction, the system generates a detailed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clinical-style explanation including: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GLCM Texture Analysis: contrast, homogeneity, energy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Intensity Profile: mean brightness, variance, skewness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Wavelet Energy: multi-scale frequency response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HOG Gradient Structure: edge consistency analysis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Grad-CAM Spatial Focus: identifies exact brain region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(e.g., "superior left region, highly localized")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Differential Diagnosis: runner-up class + confidence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margin analysis with radiologist review warnings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Interactive Web Application at http://localhost:8000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47472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61FF"/>
                </a:solidFill>
                <a:latin typeface="Calibri"/>
              </a:defRPr>
            </a:pPr>
            <a:r>
              <a:t>🧠 MRI Upload &amp;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Drag-and-drop or browse</a:t>
            </a:r>
            <a:br/>
            <a:r>
              <a:t>for any MRI scan.</a:t>
            </a:r>
            <a:br/>
            <a:r>
              <a:t>Load random test scan.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7472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61FF"/>
                </a:solidFill>
                <a:latin typeface="Calibri"/>
              </a:defRPr>
            </a:pPr>
            <a:r>
              <a:t>⚛️ Model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Switch between 4 models:</a:t>
            </a:r>
            <a:br/>
            <a:r>
              <a:t>Quantum A/B, Baseline A/B.</a:t>
            </a:r>
            <a:br/>
            <a:r>
              <a:t>Instant re-prediction.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47472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61FF"/>
                </a:solidFill>
                <a:latin typeface="Calibri"/>
              </a:defRPr>
            </a:pPr>
            <a:r>
              <a:t>📊 Probability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40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Real-time class confidence</a:t>
            </a:r>
            <a:br/>
            <a:r>
              <a:t>bars for all 4 tumor types</a:t>
            </a:r>
            <a:br/>
            <a:r>
              <a:t>with predicted diagnosis.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6240"/>
            <a:ext cx="347472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61FF"/>
                </a:solidFill>
                <a:latin typeface="Calibri"/>
              </a:defRPr>
            </a:pPr>
            <a:r>
              <a:t>🔥 Grad-CAM + Saliency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Side-by-side explainability</a:t>
            </a:r>
            <a:br/>
            <a:r>
              <a:t>maps generated on-the-fly</a:t>
            </a:r>
            <a:br/>
            <a:r>
              <a:t>from ResNet-50 layer4.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206240"/>
            <a:ext cx="347472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61FF"/>
                </a:solidFill>
                <a:latin typeface="Calibri"/>
              </a:defRPr>
            </a:pPr>
            <a:r>
              <a:t>🩺 Diagnostic 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00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Feature-level clinical</a:t>
            </a:r>
            <a:br/>
            <a:r>
              <a:t>reasoning: GLCM, HOG,</a:t>
            </a:r>
            <a:br/>
            <a:r>
              <a:t>wavelet, Grad-CAM region.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206240"/>
            <a:ext cx="3474720" cy="219456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61FF"/>
                </a:solidFill>
                <a:latin typeface="Calibri"/>
              </a:defRPr>
            </a:pPr>
            <a:r>
              <a:t>📈 Evaluation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800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Dedicated /evaluation page</a:t>
            </a:r>
            <a:br/>
            <a:r>
              <a:t>with confusion matrices,</a:t>
            </a:r>
            <a:br/>
            <a:r>
              <a:t>all metrics, McNemar stats.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Clinical Limitations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⚠️ 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1. Resolution Downsampling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Images resized to 224×224 pixels. May lose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micro-metastases or tiny lesions.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2. Single Modality (MRI Only)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Trained exclusively on MRI scans. Cannot process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CT scans due to different intensity profiles.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3. Single Dataset Bias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Trained on Kaggle Brain Tumor MRI dataset only.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Generalization to other scanners (1.5T vs 3T)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and institutions is unproven.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4. Grad-CAM Resolution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Heatmaps from 7×7 spatial grid do not perfectly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align with microscopic tumor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🚀 Future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1. 3D Volumetric Segmentation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Expand preprocessing and CNN modules to ingest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entire 3D MRI voxel volumes (3D-UNet, V-Net).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2. True Quantum Hardware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Migrate QIEO to NISQ quantum computers using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Qiskit or Pennylane quantum circuits.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3. Multi-Modal Clinical Fusion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Fuse MRI outputs with clinical text (radiology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reports) and genomic biomarker data.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4. Multi-Institutional Validation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Validate on diverse hospital datasets to ensure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cross-scanner and cross-population robustness.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5. Federated Learning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Enable privacy-preserving model training across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   hospitals without sharing raw patient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91440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33172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F4F6"/>
                </a:solidFill>
                <a:latin typeface="Calibri"/>
              </a:defRPr>
            </a:pPr>
            <a:r>
              <a:t>✅  89.84% Accuracy with Quantum A (QIEO + SVM) — +3.26% over classical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926080"/>
            <a:ext cx="91440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97180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F4F6"/>
                </a:solidFill>
                <a:latin typeface="Calibri"/>
              </a:defRPr>
            </a:pPr>
            <a:r>
              <a:t>✅  95.33% Accuracy with ResNet-50 CNN — highest overall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61188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F4F6"/>
                </a:solidFill>
                <a:latin typeface="Calibri"/>
              </a:defRPr>
            </a:pPr>
            <a:r>
              <a:t>✅  p = 0.0037 — Quantum optimization is statistically significant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206240"/>
            <a:ext cx="91440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25196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F4F6"/>
                </a:solidFill>
                <a:latin typeface="Calibri"/>
              </a:defRPr>
            </a:pPr>
            <a:r>
              <a:t>✅  Full explainability: Grad-CAM + Saliency + Clinical Reasoning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846320"/>
            <a:ext cx="9144000" cy="548640"/>
          </a:xfrm>
          <a:prstGeom prst="roundRect">
            <a:avLst/>
          </a:prstGeom>
          <a:solidFill>
            <a:srgbClr val="121621"/>
          </a:solidFill>
          <a:ln w="12700">
            <a:solidFill>
              <a:srgbClr val="1E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89204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F4F6"/>
                </a:solidFill>
                <a:latin typeface="Calibri"/>
              </a:defRPr>
            </a:pPr>
            <a:r>
              <a:t>✅  End-to-end system: Preprocessing → Feature Fusion → QIEO → Classification →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5486400"/>
            <a:ext cx="4572000" cy="36576"/>
          </a:xfrm>
          <a:prstGeom prst="rect">
            <a:avLst/>
          </a:prstGeom>
          <a:gradFill rotWithShape="1">
            <a:gsLst>
              <a:gs pos="0">
                <a:srgbClr val="7B61FF"/>
              </a:gs>
              <a:gs pos="100000">
                <a:srgbClr val="3B82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760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B61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QT-2.21 Diagnostics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